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1F5F9"/>
                </a:solidFill>
                <a:latin typeface="Calibri"/>
              </a:rPr>
              <a:t>The Atomic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8BDF8"/>
                </a:solidFill>
                <a:latin typeface="Calibri"/>
              </a:rPr>
              <a:t>Timeline &amp; Thomson's Cathode Ray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Chemistry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1F5F9"/>
                </a:solidFill>
                <a:latin typeface="Calibri"/>
              </a:rPr>
              <a:t>Timeline of Atomic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154680"/>
            <a:ext cx="106984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81912" y="3026664"/>
            <a:ext cx="310896" cy="310896"/>
          </a:xfrm>
          <a:prstGeom prst="ellipse">
            <a:avLst/>
          </a:prstGeom>
          <a:solidFill>
            <a:srgbClr val="F1F5F9"/>
          </a:solidFill>
          <a:ln w="381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Calibri"/>
              </a:rPr>
              <a:t>1803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20116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Calibri"/>
              </a:rPr>
              <a:t>Dalton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Solid indivisible sphere</a:t>
            </a:r>
          </a:p>
        </p:txBody>
      </p:sp>
      <p:sp>
        <p:nvSpPr>
          <p:cNvPr id="9" name="Oval 8"/>
          <p:cNvSpPr/>
          <p:nvPr/>
        </p:nvSpPr>
        <p:spPr>
          <a:xfrm>
            <a:off x="3753612" y="3026664"/>
            <a:ext cx="310896" cy="310896"/>
          </a:xfrm>
          <a:prstGeom prst="ellipse">
            <a:avLst/>
          </a:prstGeom>
          <a:solidFill>
            <a:srgbClr val="F1F5F9"/>
          </a:solidFill>
          <a:ln w="381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322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Calibri"/>
              </a:rPr>
              <a:t>1897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3220" y="3657600"/>
            <a:ext cx="20116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466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Calibri"/>
              </a:rPr>
              <a:t>Thomson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4660" y="42976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Plum pudding: electrons in positive mass</a:t>
            </a:r>
          </a:p>
        </p:txBody>
      </p:sp>
      <p:sp>
        <p:nvSpPr>
          <p:cNvPr id="14" name="Oval 13"/>
          <p:cNvSpPr/>
          <p:nvPr/>
        </p:nvSpPr>
        <p:spPr>
          <a:xfrm>
            <a:off x="5925312" y="3026664"/>
            <a:ext cx="310896" cy="310896"/>
          </a:xfrm>
          <a:prstGeom prst="ellipse">
            <a:avLst/>
          </a:prstGeom>
          <a:solidFill>
            <a:srgbClr val="F1F5F9"/>
          </a:solidFill>
          <a:ln w="381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Calibri"/>
              </a:rPr>
              <a:t>1911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657600"/>
            <a:ext cx="20116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Calibri"/>
              </a:rPr>
              <a:t>Rutherford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42976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Nuclear: dense positive nucleus</a:t>
            </a:r>
          </a:p>
        </p:txBody>
      </p:sp>
      <p:sp>
        <p:nvSpPr>
          <p:cNvPr id="19" name="Oval 18"/>
          <p:cNvSpPr/>
          <p:nvPr/>
        </p:nvSpPr>
        <p:spPr>
          <a:xfrm>
            <a:off x="8097012" y="3026664"/>
            <a:ext cx="310896" cy="310896"/>
          </a:xfrm>
          <a:prstGeom prst="ellipse">
            <a:avLst/>
          </a:prstGeom>
          <a:solidFill>
            <a:srgbClr val="F1F5F9"/>
          </a:solidFill>
          <a:ln w="381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662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Calibri"/>
              </a:rPr>
              <a:t>1913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6620" y="3657600"/>
            <a:ext cx="20116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806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Calibri"/>
              </a:rPr>
              <a:t>Bohr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8060" y="42976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Electrons in fixed energy orbits</a:t>
            </a:r>
          </a:p>
        </p:txBody>
      </p:sp>
      <p:sp>
        <p:nvSpPr>
          <p:cNvPr id="24" name="Oval 23"/>
          <p:cNvSpPr/>
          <p:nvPr/>
        </p:nvSpPr>
        <p:spPr>
          <a:xfrm>
            <a:off x="10268712" y="3026664"/>
            <a:ext cx="310896" cy="310896"/>
          </a:xfrm>
          <a:prstGeom prst="ellipse">
            <a:avLst/>
          </a:prstGeom>
          <a:solidFill>
            <a:srgbClr val="F1F5F9"/>
          </a:solidFill>
          <a:ln w="381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Calibri"/>
              </a:rPr>
              <a:t>1926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3657600"/>
            <a:ext cx="20116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1F5F9"/>
                </a:solidFill>
                <a:latin typeface="Calibri"/>
              </a:rPr>
              <a:t>Schrödinger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2976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Quantum: electron clouds (orbitals)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1F5F9"/>
                </a:solidFill>
                <a:latin typeface="Calibri"/>
              </a:rPr>
              <a:t>Cathode Ray Experiment (1897)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9144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J.J. Thomson used a vacuum glass tube; a high voltage made a glowing beam travel from the cathode (−) to the anode (+).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80360"/>
            <a:ext cx="9144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Electric and magnetic fields bent the beam toward the positive plate → the rays are negatively charged.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9144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Key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He measured the charge-to-mass ratio (e/m): same for any gas or metal → a universal, tiny particle: the electron.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349240"/>
            <a:ext cx="9144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Link to Thomson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150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Atoms are not indivisible → his Plum Pudding model: electrons embedded in a positive sphere.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